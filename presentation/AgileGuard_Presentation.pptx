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27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669280" cy="6400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AgileGuard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Governance Platform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273552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Proactive quality control, AI-powered story validation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and real-time gap detection for agile teams.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4360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Built for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97880" y="1508760"/>
            <a:ext cx="28346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F4B94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15087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🏢  Enterprise Teams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97880" y="2167128"/>
            <a:ext cx="28346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F4B94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21671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🚀  Multi-Team Projects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97880" y="2825496"/>
            <a:ext cx="28346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F4B94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282549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🤖  AI-Driven Quality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97880" y="3483864"/>
            <a:ext cx="28346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F4B94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97880" y="34838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📊  Executive Visibility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Powered by  Java 21 · Spring Boot · Angular 17 · Google Gemini AI · GitHub Actions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298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2984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Five critical JIRA pain points costing your teams every sprint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28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18288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Hidden costs, quality debt, and delivery risk from ungoverned SDLC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9152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359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AgileGuard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23591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What it is, how it works, and the tech stack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9504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895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28895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Capabilities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71800" y="288950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Gap engine, AI validation, Transition Guard, CI/CD &amp; leaderboard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19856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198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" y="34198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71800" y="341985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Before vs. after metrics across story quality, velocity, and rework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950208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950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9264" y="3950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ROI &amp; Cost Savings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71800" y="39502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Quantified savings model for project teams adopting AgileGuard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480560"/>
            <a:ext cx="502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480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942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9264" y="4480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Adoption Roadmap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71800" y="4480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4-week implementation journey and next steps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JIRA Challenges Silently Hurting Your Teams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400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64008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Poorly Groomed Stories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16824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Stories enter sprints without Description or Acceptance Criteria, causing rework mid-sprint.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075688"/>
            <a:ext cx="8412480" cy="6400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075688"/>
            <a:ext cx="64008" cy="64008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02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121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Vague Acceptance Criteria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24128" y="24048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AC exists but is ambiguous — teams misinterpret scope, QA rejects, stories bounce back.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798064"/>
            <a:ext cx="8412480" cy="6400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798064"/>
            <a:ext cx="64008" cy="64008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6265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28437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Missing Sub-tasks &amp; Logs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24128" y="31272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Developers and QA testers don't create sub-tasks or log effort, making sprint data unreliable.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520440"/>
            <a:ext cx="8412480" cy="6400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520440"/>
            <a:ext cx="64008" cy="64008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8503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Transition Controls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24128" y="3849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Stories reach 'Ready for Release' without passing QA, PR review, or pipeline checks.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242816"/>
            <a:ext cx="8412480" cy="6400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4242816"/>
            <a:ext cx="64008" cy="64008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40740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4128" y="42885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Component Version Chaos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24128" y="4572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Feature teams build overlapping components with conflicting versions — merge hell at release.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31" name="Text 2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The Problem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of Ungoverned SDLC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081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Sprint capacity lost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 rework &amp; re-QA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081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14600" y="2103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More bugs reach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081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Story data missing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 active sprints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298448"/>
            <a:ext cx="20116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4081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12280" y="2103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Annual rework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per 10-dev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743200" cy="2084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64008" cy="208483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90088"/>
            <a:ext cx="402336" cy="40233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3447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Velocity Erosion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0352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Teams consistently miss sprint goals when 35–45% of stories lack clear AC, leading to scope creep and last-minute pivots.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91840" y="2788920"/>
            <a:ext cx="2743200" cy="2084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91840" y="2788920"/>
            <a:ext cx="64008" cy="2084832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990088"/>
            <a:ext cx="402336" cy="40233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456432" y="3447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Delayed Releases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456432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Ungated transitions mean QA finds critical defects post-release, triggering emergency patches that derail the next sprint.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217920" y="2788920"/>
            <a:ext cx="2743200" cy="2084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2788920"/>
            <a:ext cx="64008" cy="20848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990088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82512" y="3447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Team Morale &amp; Trust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382512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Developers lose confidence in process. PMs lose trust in velocity data. Stakeholders receive unreliable forecasts.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33" name="Text 28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Why It Matters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AgileGuard — Your SDLC Control Tower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A multi-tenant governance layer that wraps Atlassian JIRA, enforces quality standards, and uses AI to guide every story from creation to release.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" y="1828800"/>
            <a:ext cx="1691640" cy="13258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93852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" y="23774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Angular 17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" y="28529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B942"/>
                </a:solidFill>
              </a:rPr>
              <a:t>Multi-tenant UI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70532" y="1828800"/>
            <a:ext cx="1691640" cy="13258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612" y="193852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70532" y="23774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:8080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70532" y="28529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B942"/>
                </a:solidFill>
              </a:rPr>
              <a:t>JWT + Routing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826764" y="1828800"/>
            <a:ext cx="1691640" cy="13258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193852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26764" y="23774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JIRA 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:8082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826764" y="28529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B942"/>
                </a:solidFill>
              </a:rPr>
              <a:t>Gap Detection Engine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682996" y="1828800"/>
            <a:ext cx="1691640" cy="13258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76" y="1938528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82996" y="23774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:8083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682996" y="28529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B942"/>
                </a:solidFill>
              </a:rPr>
              <a:t>Story Validation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402068" y="1828800"/>
            <a:ext cx="1691640" cy="13258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9308" y="1938528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39228" y="23774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Svc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:8084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539228" y="28529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B942"/>
                </a:solidFill>
              </a:rPr>
              <a:t>CI/CD + Leaderboard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805940" y="2404871"/>
            <a:ext cx="271054" cy="45719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7" name="Text 20"/>
          <p:cNvSpPr/>
          <p:nvPr/>
        </p:nvSpPr>
        <p:spPr>
          <a:xfrm>
            <a:off x="1833372" y="2286000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B942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3662172" y="2404871"/>
            <a:ext cx="224028" cy="45719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9" name="Text 22"/>
          <p:cNvSpPr/>
          <p:nvPr/>
        </p:nvSpPr>
        <p:spPr>
          <a:xfrm>
            <a:off x="3689604" y="22860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B942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518404" y="2404871"/>
            <a:ext cx="242316" cy="45719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1" name="Text 24"/>
          <p:cNvSpPr/>
          <p:nvPr/>
        </p:nvSpPr>
        <p:spPr>
          <a:xfrm>
            <a:off x="5545836" y="22860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B942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7374636" y="2404871"/>
            <a:ext cx="221415" cy="45719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3" name="Text 26"/>
          <p:cNvSpPr/>
          <p:nvPr/>
        </p:nvSpPr>
        <p:spPr>
          <a:xfrm>
            <a:off x="7402068" y="22860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B942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320040" y="3401568"/>
            <a:ext cx="1664208" cy="475488"/>
          </a:xfrm>
          <a:prstGeom prst="rect">
            <a:avLst/>
          </a:prstGeom>
          <a:solidFill>
            <a:srgbClr val="F4B942">
              <a:alpha val="1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20040" y="340156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🏢  Multi-Tenant &amp; RBAC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2029968" y="3401568"/>
            <a:ext cx="1664208" cy="475488"/>
          </a:xfrm>
          <a:prstGeom prst="rect">
            <a:avLst/>
          </a:prstGeom>
          <a:solidFill>
            <a:srgbClr val="F4B942">
              <a:alpha val="1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029968" y="340156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🤖  AI Quality Scoring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3739896" y="3401568"/>
            <a:ext cx="1664208" cy="475488"/>
          </a:xfrm>
          <a:prstGeom prst="rect">
            <a:avLst/>
          </a:prstGeom>
          <a:solidFill>
            <a:srgbClr val="F4B942">
              <a:alpha val="1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739896" y="340156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🚧  Transition Guards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5449824" y="3401568"/>
            <a:ext cx="1664208" cy="475488"/>
          </a:xfrm>
          <a:prstGeom prst="rect">
            <a:avLst/>
          </a:prstGeom>
          <a:solidFill>
            <a:srgbClr val="F4B942">
              <a:alpha val="1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449824" y="340156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📊  Real-Time Reports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159752" y="3401568"/>
            <a:ext cx="1664208" cy="475488"/>
          </a:xfrm>
          <a:prstGeom prst="rect">
            <a:avLst/>
          </a:prstGeom>
          <a:solidFill>
            <a:srgbClr val="F4B942">
              <a:alpha val="1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159752" y="3401568"/>
            <a:ext cx="1664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🏆  Dev Leaderboard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20040" y="4041648"/>
            <a:ext cx="8503920" cy="457200"/>
          </a:xfrm>
          <a:prstGeom prst="rect">
            <a:avLst/>
          </a:prstGeom>
          <a:solidFill>
            <a:srgbClr val="283A8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20040" y="40416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📦  Google BigQuery (audit &amp; analytics)  •  Cloud Pub/Sub (real-time events)  •  GCP Cloud Run (auto-scale)  •  Secret Manager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7" name="Text 40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The Solution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FEATURE 1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Detection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Scans every active sprint story every 15 minutes against 8 configurable quality rules. Auto-scores 0–100.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27632"/>
            <a:ext cx="64008" cy="71323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288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169164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Missing Description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&lt; 20 chars or empty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1810512"/>
            <a:ext cx="749808" cy="33832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810512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−15 pts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2423160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2423160"/>
            <a:ext cx="64008" cy="71323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2432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0976" y="248716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Missing Acceptance Criteria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50976" y="2807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Field empty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0" y="2606040"/>
            <a:ext cx="749808" cy="33832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0" y="2606040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−15 pts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7472" y="3218688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47472" y="3218688"/>
            <a:ext cx="64008" cy="71323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1985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0976" y="3282696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Bad AC Format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50976" y="3602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Given/When/Then or bullets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0" y="3401568"/>
            <a:ext cx="749808" cy="33832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6" name="Text 21"/>
          <p:cNvSpPr/>
          <p:nvPr/>
        </p:nvSpPr>
        <p:spPr>
          <a:xfrm>
            <a:off x="3657600" y="340156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−7 pts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47472" y="4014216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47472" y="4014216"/>
            <a:ext cx="64008" cy="71323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215384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0976" y="4078224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Story Points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50976" y="43982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Story or Bug unestimated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57600" y="4197096"/>
            <a:ext cx="749808" cy="33832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3" name="Text 27"/>
          <p:cNvSpPr/>
          <p:nvPr/>
        </p:nvSpPr>
        <p:spPr>
          <a:xfrm>
            <a:off x="3657600" y="4197096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−7 pts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645152" y="1627632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45152" y="1627632"/>
            <a:ext cx="64008" cy="71323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28800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48656" y="169164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Missing Dev Sub-task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248656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 Progress, no Dev Task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955280" y="1810512"/>
            <a:ext cx="749808" cy="33832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0" name="Text 33"/>
          <p:cNvSpPr/>
          <p:nvPr/>
        </p:nvSpPr>
        <p:spPr>
          <a:xfrm>
            <a:off x="7955280" y="1810512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−7 pts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645152" y="2423160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645152" y="2423160"/>
            <a:ext cx="64008" cy="71323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24328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248656" y="248716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Missing QA Sub-task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5248656" y="2807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 QA stage, no QA Task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7955280" y="2606040"/>
            <a:ext cx="749808" cy="33832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7" name="Text 39"/>
          <p:cNvSpPr/>
          <p:nvPr/>
        </p:nvSpPr>
        <p:spPr>
          <a:xfrm>
            <a:off x="7955280" y="2606040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−7 pts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645152" y="3218688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4645152" y="3218688"/>
            <a:ext cx="64008" cy="71323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419856"/>
            <a:ext cx="310896" cy="31089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248656" y="3282696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Effort Logged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5248656" y="3602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 Progress, 0 minutes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7955280" y="3401568"/>
            <a:ext cx="749808" cy="33832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4" name="Text 45"/>
          <p:cNvSpPr/>
          <p:nvPr/>
        </p:nvSpPr>
        <p:spPr>
          <a:xfrm>
            <a:off x="7955280" y="3401568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−7 pts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4645152" y="4014216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4645152" y="4014216"/>
            <a:ext cx="64008" cy="71323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215384"/>
            <a:ext cx="310896" cy="310896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5248656" y="4078224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Aging Story</a:t>
            </a:r>
            <a:endParaRPr lang="en-US" sz="1200" dirty="0"/>
          </a:p>
        </p:txBody>
      </p:sp>
      <p:sp>
        <p:nvSpPr>
          <p:cNvPr id="59" name="Text 49"/>
          <p:cNvSpPr/>
          <p:nvPr/>
        </p:nvSpPr>
        <p:spPr>
          <a:xfrm>
            <a:off x="5248656" y="43982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&gt; 5 days in same status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7955280" y="4197096"/>
            <a:ext cx="749808" cy="33832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1" name="Text 51"/>
          <p:cNvSpPr/>
          <p:nvPr/>
        </p:nvSpPr>
        <p:spPr>
          <a:xfrm>
            <a:off x="7955280" y="4197096"/>
            <a:ext cx="749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−30 pts</a:t>
            </a:r>
            <a:endParaRPr lang="en-US" sz="1000" dirty="0"/>
          </a:p>
        </p:txBody>
      </p:sp>
      <p:sp>
        <p:nvSpPr>
          <p:cNvPr id="62" name="Shape 5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63" name="Text 5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Gap Detection Engine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FEATURE 2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— Story Intelligence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5074920" cy="77724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98448"/>
            <a:ext cx="502920" cy="7772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9844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0976" y="1362456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 story details in AgileGuard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17007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Real-time keystroke capture with 800ms debounce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194560"/>
            <a:ext cx="5074920" cy="77724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194560"/>
            <a:ext cx="502920" cy="7772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194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50976" y="225856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AI evaluates the draft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976" y="25968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Structured prompt → quality score, issues, suggestions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090672"/>
            <a:ext cx="5074920" cy="77724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090672"/>
            <a:ext cx="502920" cy="7772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09067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" y="315468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suggestions appear instantly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4930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Improved description, Given/When/Then AC, estimation hint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986784"/>
            <a:ext cx="5074920" cy="77724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986784"/>
            <a:ext cx="502920" cy="7772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98678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" y="4050792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 refines and saves the 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976" y="4389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Score must reach ≥60 for the story to pass AI gate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23560" y="1298448"/>
            <a:ext cx="3200400" cy="352044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89888"/>
            <a:ext cx="548640" cy="548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715000" y="19933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942"/>
                </a:solidFill>
              </a:rPr>
              <a:t>AI Capabilities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742432" y="23957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Quality score 0–100 per story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742432" y="270662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Detects vague or missing AC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742432" y="30175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Generates Given/When/Then AC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742432" y="332841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Rewrites weak descriptions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742432" y="36393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Story point estimation hints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42432" y="39502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SSE streaming — no page reload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742432" y="426110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✅  Falls back gracefully if offline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47472" y="4663440"/>
            <a:ext cx="8476488" cy="310896"/>
          </a:xfrm>
          <a:prstGeom prst="rect">
            <a:avLst/>
          </a:prstGeom>
          <a:solidFill>
            <a:srgbClr val="F4B942">
              <a:alpha val="8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347472" y="4663440"/>
            <a:ext cx="8476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</a:rPr>
              <a:t>Model: Google Gemini 1.5 Flash / Pro  •  Configurable API key  •  Fallback mock mode for offline dev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38" name="Text 35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Gemini AI Integration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FEATURE 3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Guard &amp; CI/CD Integration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35024"/>
            <a:ext cx="146304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3350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10512" y="1335024"/>
            <a:ext cx="24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B942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947672"/>
            <a:ext cx="146304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476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🔐 Gate Required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Dev Task ✓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Effort Logged ✓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PR Linked ✓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1335024"/>
            <a:ext cx="1463040" cy="50292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3350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Ready for QA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335024"/>
            <a:ext cx="24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B942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67328" y="1335024"/>
            <a:ext cx="1463040" cy="50292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67328" y="13350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QA In Progress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30368" y="1335024"/>
            <a:ext cx="24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B94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67328" y="1947672"/>
            <a:ext cx="146304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19476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🔐 Gate Required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QA Task ✓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AC Present ✓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Story Points ✓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77256" y="1335024"/>
            <a:ext cx="1463040" cy="50292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3350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Ready for Release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0296" y="1335024"/>
            <a:ext cx="246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B942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77256" y="1947672"/>
            <a:ext cx="146304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77256" y="194767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🔐 Gate Required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CI Pipeline ✓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5803D"/>
                </a:solidFill>
              </a:rPr>
              <a:t>Security Scan 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87184" y="1335024"/>
            <a:ext cx="146304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87184" y="13350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684417"/>
            <a:ext cx="3840480" cy="2203051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59" y="2731443"/>
            <a:ext cx="340941" cy="34094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267658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Actions Integration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292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• Monitor CI/CD workflow runs per story branch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3401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• Block 'Ready for Release' if pipeline is red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02920" y="3730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• Security scan gate (CodeQL / Trivy)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02920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• PR review count enforcement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9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• Link GitHub PR to JIRA story — tracked in reports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17720" y="2702052"/>
            <a:ext cx="4114800" cy="22030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698057" y="26726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SDLC Gate Status — PLAT-101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09160" y="2926080"/>
            <a:ext cx="402336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3"/>
          <p:cNvSpPr/>
          <p:nvPr/>
        </p:nvSpPr>
        <p:spPr>
          <a:xfrm>
            <a:off x="4773168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Unit Tests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315200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</a:rPr>
              <a:t>✅ Passed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09160" y="3227832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4773168" y="3227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Integration Tests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15200" y="3227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</a:rPr>
              <a:t>✅ Passed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09160" y="3529584"/>
            <a:ext cx="402336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39"/>
          <p:cNvSpPr/>
          <p:nvPr/>
        </p:nvSpPr>
        <p:spPr>
          <a:xfrm>
            <a:off x="4773168" y="3529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Code Coverage ≥ 80%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315200" y="3529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</a:rPr>
              <a:t>✅ 84%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09160" y="3831336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4773168" y="38313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Security Scan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315200" y="38313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</a:rPr>
              <a:t>✅ Clean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709160" y="4133088"/>
            <a:ext cx="402336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5"/>
          <p:cNvSpPr/>
          <p:nvPr/>
        </p:nvSpPr>
        <p:spPr>
          <a:xfrm>
            <a:off x="4773168" y="4133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 Merged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31520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</a:rPr>
              <a:t>✅ PR #42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709160" y="4434840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4773168" y="4434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 Review (2 min)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31520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</a:rPr>
              <a:t>🚨 Only 1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54" name="Text 51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Transition Guard &amp; CI/CD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FEATURE 4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Reports &amp; Team Leaderboard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2057400" cy="182880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25880"/>
            <a:ext cx="2057400" cy="6400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0391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Health Report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" y="2514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Overall score, flagged stories, aging issues, velocity vs planned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96312" y="1325880"/>
            <a:ext cx="2057400" cy="182880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96312" y="1325880"/>
            <a:ext cx="2057400" cy="6400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508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20391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Performance Report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9464" y="2514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Gap rate per team, status dwell time, effort logging compliance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45152" y="1325880"/>
            <a:ext cx="2057400" cy="182880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45152" y="1325880"/>
            <a:ext cx="2057400" cy="6400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508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45152" y="20391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Cross-Team Conflict Report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18304" y="2514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Component version overlaps, shared dependencies, risk matrix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93992" y="1325880"/>
            <a:ext cx="2057400" cy="182880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93992" y="1325880"/>
            <a:ext cx="2057400" cy="6400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15087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93992" y="20391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Health Report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67144" y="2514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Pipeline pass rate, flaky tests, avg build duration, gate failures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347472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942"/>
                </a:solidFill>
              </a:rPr>
              <a:t>🏆  Developer Leaderboard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47472" y="36393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GitHub + JIRA composite score  •  Resets each sprint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47472" y="3968496"/>
            <a:ext cx="4983480" cy="30175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28" name="Text 22"/>
          <p:cNvSpPr/>
          <p:nvPr/>
        </p:nvSpPr>
        <p:spPr>
          <a:xfrm>
            <a:off x="384048" y="396849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🥇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77240" y="396849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Priya Sharma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2176272" y="3968496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942"/>
                </a:solidFill>
              </a:rPr>
              <a:t>91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2670048" y="396849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DEVELOPER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895344" y="396849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4B942"/>
                </a:solidFill>
              </a:rPr>
              <a:t>QUALITY_CHAMPION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347472" y="4306824"/>
            <a:ext cx="4983480" cy="30175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34" name="Text 28"/>
          <p:cNvSpPr/>
          <p:nvPr/>
        </p:nvSpPr>
        <p:spPr>
          <a:xfrm>
            <a:off x="384048" y="430682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🥈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77240" y="430682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Ravi Tester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2176272" y="4306824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942"/>
                </a:solidFill>
              </a:rPr>
              <a:t>84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2670048" y="430682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QA_TESTER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3895344" y="4306824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4B942"/>
                </a:solidFill>
              </a:rPr>
              <a:t>QA_CHAMPION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347472" y="4645152"/>
            <a:ext cx="4983480" cy="30175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0" name="Text 34"/>
          <p:cNvSpPr/>
          <p:nvPr/>
        </p:nvSpPr>
        <p:spPr>
          <a:xfrm>
            <a:off x="384048" y="4645152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🥉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777240" y="46451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Amit Dev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2176272" y="464515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942"/>
                </a:solidFill>
              </a:rPr>
              <a:t>73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2670048" y="464515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DEVELOPER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3895344" y="4645152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4B942"/>
                </a:solidFill>
              </a:rPr>
              <a:t>—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5440680" y="3310128"/>
            <a:ext cx="3383280" cy="150876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5532120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942"/>
                </a:solidFill>
              </a:rPr>
              <a:t>Score Formula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532120" y="3749040"/>
            <a:ext cx="2286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Story Quality (AI)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7818120" y="3749040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B942"/>
                </a:solidFill>
              </a:rPr>
              <a:t>30%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5532120" y="3913632"/>
            <a:ext cx="2286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Effort Logging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818120" y="3913632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B942"/>
                </a:solidFill>
              </a:rPr>
              <a:t>20%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5532120" y="4078224"/>
            <a:ext cx="2286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Sub-task Compliance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7818120" y="4078224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B942"/>
                </a:solidFill>
              </a:rPr>
              <a:t>15%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5532120" y="4242816"/>
            <a:ext cx="2286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PR Reviews</a:t>
            </a:r>
            <a:endParaRPr lang="en-US" sz="950" dirty="0"/>
          </a:p>
        </p:txBody>
      </p:sp>
      <p:sp>
        <p:nvSpPr>
          <p:cNvPr id="54" name="Text 48"/>
          <p:cNvSpPr/>
          <p:nvPr/>
        </p:nvSpPr>
        <p:spPr>
          <a:xfrm>
            <a:off x="7818120" y="4242816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B942"/>
                </a:solidFill>
              </a:rPr>
              <a:t>15%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5532120" y="4407408"/>
            <a:ext cx="2286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CI Pass Rate</a:t>
            </a:r>
            <a:endParaRPr lang="en-US" sz="950" dirty="0"/>
          </a:p>
        </p:txBody>
      </p:sp>
      <p:sp>
        <p:nvSpPr>
          <p:cNvPr id="56" name="Text 50"/>
          <p:cNvSpPr/>
          <p:nvPr/>
        </p:nvSpPr>
        <p:spPr>
          <a:xfrm>
            <a:off x="7818120" y="4407408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B942"/>
                </a:solidFill>
              </a:rPr>
              <a:t>10%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5532120" y="4572000"/>
            <a:ext cx="2286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Commit Frequency</a:t>
            </a:r>
            <a:endParaRPr lang="en-US" sz="950" dirty="0"/>
          </a:p>
        </p:txBody>
      </p:sp>
      <p:sp>
        <p:nvSpPr>
          <p:cNvPr id="58" name="Text 52"/>
          <p:cNvSpPr/>
          <p:nvPr/>
        </p:nvSpPr>
        <p:spPr>
          <a:xfrm>
            <a:off x="7818120" y="4572000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B942"/>
                </a:solidFill>
              </a:rPr>
              <a:t>10%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60" name="Text 5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Reports &amp; Leaderboard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BUSINESS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AgileGuard vs. After AgileGuard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16052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618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AgileGuard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36008" y="1261872"/>
            <a:ext cx="41605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4636008" y="12618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AgileGuard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1737360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37360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Stories missing AC discovered in QA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AC enforced and AI-verified before sprint start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13055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6008" y="213055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30552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30% sprint rework from vague stories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130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&lt; 8% rework — stories arrive ready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523744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2523744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523744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No visibility into story quality 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5237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0–100 score on every story, every sprint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916936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36008" y="2916936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91693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Status changes unchecked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29169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Gates block invalid transitions automatically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3310128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636008" y="3310128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31012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No effort tracking, unreliable velocity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3310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Sub-tasks required, velocity data trustworthy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703320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636008" y="3703320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703320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Component conflicts at release time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3703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Cross-team conflicts flagged weeks earlier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4096512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636008" y="4096512"/>
            <a:ext cx="41605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096512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No idea who is delivering quality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09160" y="40965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Leaderboard highlights top contributors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" y="4489704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636008" y="4489704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4489704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• CI/CD failures found post-deployment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09160" y="44897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803D"/>
                </a:solidFill>
              </a:rPr>
              <a:t>• SDLC gates block release when pipeline fails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07992" y="1261872"/>
            <a:ext cx="128016" cy="3657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Business Impact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ROI &amp; COST SAVINGS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AgileGuard Saves Your Company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Based on a 10-developer team, 2-week sprints, $100/hr avg fully-loaded cost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2084832" cy="128016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572768"/>
            <a:ext cx="2084832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682496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$72,000/yr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2286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Rework elimination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(30% → 8% rework rate)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572768"/>
            <a:ext cx="2084832" cy="128016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572768"/>
            <a:ext cx="2084832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682496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$48,000/yr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42032" y="2286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QA cycle reduction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(2× fewer re-QA cycles)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1572768"/>
            <a:ext cx="2084832" cy="128016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572768"/>
            <a:ext cx="2084832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682496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$36,000/yr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36592" y="2286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Faster release cycles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(1 week saved/quarter)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31152" y="1572768"/>
            <a:ext cx="2084832" cy="128016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31152" y="1572768"/>
            <a:ext cx="2084832" cy="640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1682496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B942"/>
                </a:solidFill>
              </a:rPr>
              <a:t>$24,000/yr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31152" y="22860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Incident prevention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(fewer prod defects)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999232"/>
            <a:ext cx="8476488" cy="5669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9923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Total Estimated Annual Savings: 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29992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</a:rPr>
              <a:t>$180,000 / year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47472" y="3703320"/>
            <a:ext cx="8476488" cy="192024"/>
          </a:xfrm>
          <a:prstGeom prst="rect">
            <a:avLst/>
          </a:prstGeom>
          <a:solidFill>
            <a:srgbClr val="182050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703320"/>
            <a:ext cx="5029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Platform licensing (SaaS estimate)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3703320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$24,000/yr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60920" y="3703320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904488"/>
            <a:ext cx="8476488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3904488"/>
            <a:ext cx="5029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One-time setup &amp; integration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3904488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$18,000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3904488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(6 eng-weeks)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4105656"/>
            <a:ext cx="8476488" cy="192024"/>
          </a:xfrm>
          <a:prstGeom prst="rect">
            <a:avLst/>
          </a:prstGeom>
          <a:solidFill>
            <a:srgbClr val="182050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4105656"/>
            <a:ext cx="5029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Annual team training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0" y="4105656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 $4,000/yr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60920" y="4105656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306824"/>
            <a:ext cx="8476488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4306824"/>
            <a:ext cx="5029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Total 3-Year Cost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0" y="4306824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$82,000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60920" y="4306824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4507992"/>
            <a:ext cx="8476488" cy="192024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4507992"/>
            <a:ext cx="5029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</a:rPr>
              <a:t>Total 3-Year Savings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450799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B942"/>
                </a:solidFill>
              </a:rPr>
              <a:t>$540,000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60920" y="4507992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($180K × 3 yrs)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" y="4709160"/>
            <a:ext cx="8476488" cy="192024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" y="4709160"/>
            <a:ext cx="5029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</a:rPr>
              <a:t>Net 3-Year ROI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0" y="4709160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B942"/>
                </a:solidFill>
              </a:rPr>
              <a:t>$458,000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60920" y="4709160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+558% ROI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ROI &amp; Cost Savings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ENTERPRISE READY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Enterprise — Multi-Tenant by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577840" cy="56692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3218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Tenant (Organisation)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28262" y="1298448"/>
            <a:ext cx="4425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Complete data isolation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Own JIRA workspace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RBAC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029968"/>
            <a:ext cx="4754880" cy="566928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0299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Project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59936" y="202996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Maps to JIRA Project Key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GitHub org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Quality rule config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761488"/>
            <a:ext cx="3931920" cy="56692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2761488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 Feature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91610" y="2761488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Assigned JIRA component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GitHub repos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Sprint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3493008"/>
            <a:ext cx="3108960" cy="566928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3493008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Individual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23283" y="3493008"/>
            <a:ext cx="170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Developer / QA / PO / Scrum Master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 Leaderboard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1011" y="2025396"/>
            <a:ext cx="2847833" cy="28392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1988" y="2397034"/>
            <a:ext cx="24048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8 Platform Roles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1011" y="275626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1011" y="275626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SUPER_ADMIN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34662" y="2715115"/>
            <a:ext cx="1593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Platform-wide management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1011" y="303058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191011" y="303058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TENANT_ADMIN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53212" y="3263755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Manage all org projects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1011" y="330490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191011" y="330490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PROJECT_ADMIN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2848" y="2996783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Project config &amp; teams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1011" y="357922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191011" y="357922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FEATURE_LEAD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721" y="3511949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Team management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1011" y="385354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191011" y="385354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PRODUCT_OWNER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34662" y="3806027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Stories &amp; releases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1011" y="412786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191011" y="412786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DEVELOPER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34662" y="4074305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Code, sub-tasks, effort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1011" y="440218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191011" y="440218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QA_TESTER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53212" y="434111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QA tasks, test effort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1011" y="4676503"/>
            <a:ext cx="1187674" cy="11887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6191011" y="4676503"/>
            <a:ext cx="118767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VIEWER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74636" y="46222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Read-only reports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4206240"/>
            <a:ext cx="4114800" cy="65836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426110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942"/>
                </a:solidFill>
              </a:rPr>
              <a:t>🔒  Complete Tenant Data Isolation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453542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Every BigQuery query is scoped to tenant_id. JWT injects X-Tenant-ID. No cross-tenant data leakage is architecturally possible.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Enterprise &amp; Multi-Tenancy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ADOPTION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Implementation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From first deployment to full team adoption in one month — zero disruption to existing JIRA workflows.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2084832" cy="3182112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27632"/>
            <a:ext cx="2084832" cy="47548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62763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Deploy &amp; Connect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17627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Deploy AgileGuard on GCP Cloud Run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7889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Connect Atlassian JIRA workspace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340156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Onboard first project team &amp; admin user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401421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Run first gap scan on existing sprint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23744" y="1627632"/>
            <a:ext cx="2084832" cy="3182112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23744" y="1627632"/>
            <a:ext cx="208483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523744" y="162763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37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Configure &amp; Enable 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15184" y="217627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Configure quality rule thresholds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15184" y="27889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Enable Gemini AI (add API key)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15184" y="340156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Set transition gate rules per project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15184" y="401421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Train POs on story editor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0016" y="1627632"/>
            <a:ext cx="2084832" cy="3182112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627632"/>
            <a:ext cx="2084832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162763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Expand Teams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91456" y="217627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Onboard all feature teams &amp; members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27889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Connect GitHub repositories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340156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Enable CI/CD gate checks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91456" y="401421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Set up leaderboard for dev team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76288" y="1627632"/>
            <a:ext cx="2084832" cy="3182112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76288" y="1627632"/>
            <a:ext cx="2084832" cy="4754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Text 30"/>
          <p:cNvSpPr/>
          <p:nvPr/>
        </p:nvSpPr>
        <p:spPr>
          <a:xfrm>
            <a:off x="6876288" y="162763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Full Governance Live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67728" y="217627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All stories gated by quality rules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67728" y="27889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Daily gap scan reports to stakeholders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67728" y="3401568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First leaderboard sprint review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67728" y="401421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• Retrospective — tune thresholds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645152"/>
            <a:ext cx="8476488" cy="320040"/>
          </a:xfrm>
          <a:prstGeom prst="rect">
            <a:avLst/>
          </a:prstGeom>
          <a:solidFill>
            <a:srgbClr val="283A8E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645152"/>
            <a:ext cx="8476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B942"/>
                </a:solidFill>
              </a:rPr>
              <a:t>🚀  POC is ready today — runs locally with one command: ./start-all.sh  |  All APIs default to mock mode  |  No cloud account needed to evaluate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83A8E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AgileGuard • Implementation Roadmap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02996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 is Measured</a:t>
            </a:r>
            <a:endParaRPr lang="en-US" sz="3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Sprint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1272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Every ungated transition, every vague story, every missed sub-task is money left on the table.</a:t>
            </a:r>
            <a:endParaRPr lang="en-US" sz="13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AgileGuard pays for itself in the first quarter.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3858768"/>
            <a:ext cx="2423160" cy="868680"/>
          </a:xfrm>
          <a:prstGeom prst="rect">
            <a:avLst/>
          </a:prstGeom>
          <a:solidFill>
            <a:srgbClr val="F4B94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39136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🚀  Run the POC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33425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83A8E"/>
                </a:solidFill>
              </a:rPr>
              <a:t>Download project → ./start-all.sh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3858768"/>
            <a:ext cx="2423160" cy="8686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39136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Review Gap Reports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37560" y="433425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See your team's live JIRA health score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97880" y="3858768"/>
            <a:ext cx="2423160" cy="868680"/>
          </a:xfrm>
          <a:prstGeom prst="rect">
            <a:avLst/>
          </a:prstGeom>
          <a:solidFill>
            <a:srgbClr val="283A8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39136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Schedule Deep Dive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97880" y="433425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Book a 45-min engineering walkthrough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AgileGuard  •  Java 21 · Spring Boot 3 · Angular 17 · GCP · Gemini AI · GitHub Actions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1753</Words>
  <Application>Microsoft Office PowerPoint</Application>
  <PresentationFormat>On-screen Show (16:9)</PresentationFormat>
  <Paragraphs>377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AgileGuard — SDLC Governance Platform</dc:title>
  <dc:subject>Executive Presentation</dc:subject>
  <dc:creator>AgileGuard Platform Team</dc:creator>
  <cp:lastModifiedBy>Sharique Ali</cp:lastModifiedBy>
  <cp:revision>4</cp:revision>
  <dcterms:created xsi:type="dcterms:W3CDTF">2026-04-04T15:54:53Z</dcterms:created>
  <dcterms:modified xsi:type="dcterms:W3CDTF">2026-04-04T17:10:26Z</dcterms:modified>
</cp:coreProperties>
</file>